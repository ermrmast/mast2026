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6949" autoAdjust="0"/>
  </p:normalViewPr>
  <p:slideViewPr>
    <p:cSldViewPr snapToGrid="0" snapToObjects="1">
      <p:cViewPr varScale="1">
        <p:scale>
          <a:sx n="73" d="100"/>
          <a:sy n="73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19" Type="http://schemas.openxmlformats.org/officeDocument/2006/relationships/customXml" Target="../customXml/item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en Fernando" userId="79ca629f-c52c-4da6-ac04-67142b434d53" providerId="ADAL" clId="{551D8B48-BBD4-455B-AEE1-10060BB373FB}"/>
    <pc:docChg chg="delSld modSld delSection modSection">
      <pc:chgData name="Roshen Fernando" userId="79ca629f-c52c-4da6-ac04-67142b434d53" providerId="ADAL" clId="{551D8B48-BBD4-455B-AEE1-10060BB373FB}" dt="2026-10-25T02:09:44.985" v="13" actId="20577"/>
      <pc:docMkLst>
        <pc:docMk/>
      </pc:docMkLst>
      <pc:sldChg chg="modNotesTx">
        <pc:chgData name="Roshen Fernando" userId="79ca629f-c52c-4da6-ac04-67142b434d53" providerId="ADAL" clId="{551D8B48-BBD4-455B-AEE1-10060BB373FB}" dt="2026-10-25T02:09:25.024" v="6" actId="20577"/>
        <pc:sldMkLst>
          <pc:docMk/>
          <pc:sldMk cId="0" sldId="256"/>
        </pc:sldMkLst>
      </pc:sldChg>
      <pc:sldChg chg="modNotesTx">
        <pc:chgData name="Roshen Fernando" userId="79ca629f-c52c-4da6-ac04-67142b434d53" providerId="ADAL" clId="{551D8B48-BBD4-455B-AEE1-10060BB373FB}" dt="2026-10-25T02:09:27.580" v="7" actId="20577"/>
        <pc:sldMkLst>
          <pc:docMk/>
          <pc:sldMk cId="0" sldId="257"/>
        </pc:sldMkLst>
      </pc:sldChg>
      <pc:sldChg chg="modNotesTx">
        <pc:chgData name="Roshen Fernando" userId="79ca629f-c52c-4da6-ac04-67142b434d53" providerId="ADAL" clId="{551D8B48-BBD4-455B-AEE1-10060BB373FB}" dt="2026-10-25T02:09:30.608" v="8" actId="20577"/>
        <pc:sldMkLst>
          <pc:docMk/>
          <pc:sldMk cId="0" sldId="258"/>
        </pc:sldMkLst>
      </pc:sldChg>
      <pc:sldChg chg="modNotesTx">
        <pc:chgData name="Roshen Fernando" userId="79ca629f-c52c-4da6-ac04-67142b434d53" providerId="ADAL" clId="{551D8B48-BBD4-455B-AEE1-10060BB373FB}" dt="2026-10-25T02:09:33.578" v="9" actId="20577"/>
        <pc:sldMkLst>
          <pc:docMk/>
          <pc:sldMk cId="0" sldId="259"/>
        </pc:sldMkLst>
      </pc:sldChg>
      <pc:sldChg chg="modNotesTx">
        <pc:chgData name="Roshen Fernando" userId="79ca629f-c52c-4da6-ac04-67142b434d53" providerId="ADAL" clId="{551D8B48-BBD4-455B-AEE1-10060BB373FB}" dt="2026-10-25T02:09:35.645" v="10" actId="20577"/>
        <pc:sldMkLst>
          <pc:docMk/>
          <pc:sldMk cId="0" sldId="260"/>
        </pc:sldMkLst>
      </pc:sldChg>
      <pc:sldChg chg="modNotesTx">
        <pc:chgData name="Roshen Fernando" userId="79ca629f-c52c-4da6-ac04-67142b434d53" providerId="ADAL" clId="{551D8B48-BBD4-455B-AEE1-10060BB373FB}" dt="2026-10-25T02:09:39.133" v="11" actId="20577"/>
        <pc:sldMkLst>
          <pc:docMk/>
          <pc:sldMk cId="0" sldId="261"/>
        </pc:sldMkLst>
      </pc:sldChg>
      <pc:sldChg chg="modNotesTx">
        <pc:chgData name="Roshen Fernando" userId="79ca629f-c52c-4da6-ac04-67142b434d53" providerId="ADAL" clId="{551D8B48-BBD4-455B-AEE1-10060BB373FB}" dt="2026-10-25T02:09:42.151" v="12" actId="20577"/>
        <pc:sldMkLst>
          <pc:docMk/>
          <pc:sldMk cId="0" sldId="262"/>
        </pc:sldMkLst>
      </pc:sldChg>
      <pc:sldChg chg="modNotesTx">
        <pc:chgData name="Roshen Fernando" userId="79ca629f-c52c-4da6-ac04-67142b434d53" providerId="ADAL" clId="{551D8B48-BBD4-455B-AEE1-10060BB373FB}" dt="2026-10-25T02:09:44.985" v="13" actId="20577"/>
        <pc:sldMkLst>
          <pc:docMk/>
          <pc:sldMk cId="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4851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2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94976" y="813816"/>
            <a:ext cx="254203" cy="254203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37876" y="813816"/>
            <a:ext cx="254203" cy="254203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780776" y="8138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23676" y="8138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94976" y="1156716"/>
            <a:ext cx="254203" cy="254203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37876" y="1156716"/>
            <a:ext cx="254203" cy="254203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80776" y="11567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23676" y="11567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94976" y="14996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437876" y="14996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780776" y="14996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123676" y="14996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094976" y="18425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437876" y="18425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780776" y="18425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123676" y="18425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3816" y="8138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65A"/>
                </a:solidFill>
              </a:rPr>
              <a:t>MAST 2026 · WORKSHOP ON CGE MODELING AND GTAP</a:t>
            </a:r>
            <a:endParaRPr lang="en-US" sz="1300" dirty="0"/>
          </a:p>
        </p:txBody>
      </p:sp>
      <p:sp>
        <p:nvSpPr>
          <p:cNvPr id="19" name="Text 17"/>
          <p:cNvSpPr>
            <a:spLocks noGrp="1"/>
          </p:cNvSpPr>
          <p:nvPr>
            <p:ph type="body" idx="117" hasCustomPrompt="1"/>
          </p:nvPr>
        </p:nvSpPr>
        <p:spPr>
          <a:xfrm>
            <a:off x="813816" y="2148840"/>
            <a:ext cx="10564063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rgbClr val="A9BACB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20" name="Text 17"/>
          <p:cNvSpPr>
            <a:spLocks noGrp="1"/>
          </p:cNvSpPr>
          <p:nvPr>
            <p:ph type="title" idx="118" hasCustomPrompt="1"/>
          </p:nvPr>
        </p:nvSpPr>
        <p:spPr>
          <a:xfrm>
            <a:off x="813816" y="2560320"/>
            <a:ext cx="10564063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4600" b="1" dirty="0">
                <a:solidFill>
                  <a:srgbClr val="F2EFE7"/>
                </a:solidFill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endParaRPr lang="en-US" sz="4600" dirty="0"/>
          </a:p>
        </p:txBody>
      </p:sp>
      <p:sp>
        <p:nvSpPr>
          <p:cNvPr id="21" name="Text 17"/>
          <p:cNvSpPr>
            <a:spLocks noGrp="1"/>
          </p:cNvSpPr>
          <p:nvPr>
            <p:ph type="body" idx="119" hasCustomPrompt="1"/>
          </p:nvPr>
        </p:nvSpPr>
        <p:spPr>
          <a:xfrm>
            <a:off x="813816" y="4069080"/>
            <a:ext cx="10564063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i="1" dirty="0">
                <a:solidFill>
                  <a:srgbClr val="F2A65A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22" name="Text 17"/>
          <p:cNvSpPr>
            <a:spLocks noGrp="1"/>
          </p:cNvSpPr>
          <p:nvPr>
            <p:ph type="body" idx="120" hasCustomPrompt="1"/>
          </p:nvPr>
        </p:nvSpPr>
        <p:spPr>
          <a:xfrm>
            <a:off x="813816" y="4846320"/>
            <a:ext cx="10564063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900" dirty="0">
                <a:solidFill>
                  <a:srgbClr val="C9D5E0"/>
                </a:solidFill>
              </a:defRPr>
            </a:lvl1pPr>
          </a:lstStyle>
          <a:p>
            <a:pPr marL="0" indent="0">
              <a:buNone/>
            </a:pP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813816" y="6291072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ACB"/>
                </a:solidFill>
              </a:rPr>
              <a:t>MAST 2026 · Session 3 · A Hands-on CGE Modeling Exercise · Jakarta, 27 October 2026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Headline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kern="0" spc="200" dirty="0">
                <a:solidFill>
                  <a:srgbClr val="A04E12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4273C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900" i="1" dirty="0">
                <a:solidFill>
                  <a:srgbClr val="1D6A72"/>
                </a:solidFill>
              </a:defRPr>
            </a:lvl1pPr>
          </a:lstStyle>
          <a:p>
            <a:pPr marL="0" indent="0">
              <a:buNone/>
            </a:pPr>
            <a:endParaRPr lang="en-US" sz="1900" dirty="0"/>
          </a:p>
        </p:txBody>
      </p:sp>
      <p:sp>
        <p:nvSpPr>
          <p:cNvPr id="5" name="Text 0"/>
          <p:cNvSpPr/>
          <p:nvPr/>
        </p:nvSpPr>
        <p:spPr>
          <a:xfrm>
            <a:off x="813816" y="6291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8"/>
                </a:solidFill>
              </a:rPr>
              <a:t>MAST 2026 · Session 3 · A Hands-on CGE Modeling Exercise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iding Question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kern="0" spc="200" dirty="0">
                <a:solidFill>
                  <a:srgbClr val="A04E12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4273C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900" i="1" dirty="0">
                <a:solidFill>
                  <a:srgbClr val="1D6A72"/>
                </a:solidFill>
              </a:defRPr>
            </a:lvl1pPr>
          </a:lstStyle>
          <a:p>
            <a:pPr marL="0" indent="0">
              <a:buNone/>
            </a:pPr>
            <a:endParaRPr lang="en-US" sz="19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1088136" y="2386584"/>
            <a:ext cx="10015423" cy="6492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900" dirty="0">
                <a:solidFill>
                  <a:srgbClr val="14273C"/>
                </a:solidFill>
              </a:defRPr>
            </a:lvl1pPr>
          </a:lstStyle>
          <a:p>
            <a:pPr marL="0" indent="0">
              <a:buNone/>
            </a:pPr>
            <a:endParaRPr lang="en-US" sz="19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1088136" y="3877056"/>
            <a:ext cx="6172200" cy="19293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spcAft>
                <a:spcPts val="600"/>
              </a:spcAft>
              <a:buNone/>
              <a:defRPr lang="en-US" sz="1800" dirty="0">
                <a:solidFill>
                  <a:srgbClr val="36424F"/>
                </a:solidFill>
              </a:defRPr>
            </a:lvl1pPr>
          </a:lstStyle>
          <a:p>
            <a:pPr marL="0" indent="0">
              <a:spcAft>
                <a:spcPts val="600"/>
              </a:spcAft>
              <a:buNone/>
            </a:pPr>
            <a:endParaRPr lang="en-US" sz="1800" dirty="0"/>
          </a:p>
        </p:txBody>
      </p:sp>
      <p:sp>
        <p:nvSpPr>
          <p:cNvPr id="7" name="Text 0"/>
          <p:cNvSpPr>
            <a:spLocks noGrp="1"/>
          </p:cNvSpPr>
          <p:nvPr>
            <p:ph type="body" idx="105" hasCustomPrompt="1"/>
          </p:nvPr>
        </p:nvSpPr>
        <p:spPr>
          <a:xfrm>
            <a:off x="8046720" y="3877056"/>
            <a:ext cx="3056839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rgbClr val="F2EFE7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8" name="Text 0"/>
          <p:cNvSpPr>
            <a:spLocks noGrp="1"/>
          </p:cNvSpPr>
          <p:nvPr>
            <p:ph type="body" idx="106" hasCustomPrompt="1"/>
          </p:nvPr>
        </p:nvSpPr>
        <p:spPr>
          <a:xfrm>
            <a:off x="8046720" y="4773168"/>
            <a:ext cx="3056839" cy="103327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700" dirty="0">
                <a:solidFill>
                  <a:srgbClr val="C9D5E0"/>
                </a:solidFill>
              </a:defRPr>
            </a:lvl1pPr>
          </a:lstStyle>
          <a:p>
            <a:pPr marL="0" indent="0">
              <a:buNone/>
            </a:pPr>
            <a:endParaRPr lang="en-US" sz="1700" dirty="0"/>
          </a:p>
        </p:txBody>
      </p:sp>
      <p:sp>
        <p:nvSpPr>
          <p:cNvPr id="9" name="Text 0"/>
          <p:cNvSpPr/>
          <p:nvPr/>
        </p:nvSpPr>
        <p:spPr>
          <a:xfrm>
            <a:off x="813816" y="6291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8"/>
                </a:solidFill>
              </a:rPr>
              <a:t>MAST 2026 · Session 3 · A Hands-on CGE Modeling Exercise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" name="Classification footer">
            <a:extLst>
              <a:ext uri="{FF2B5EF4-FFF2-40B4-BE49-F238E27FC236}">
                <a16:creationId xmlns:a16="http://schemas.microsoft.com/office/drawing/2014/main" id="{6FEF1073-37E0-E39F-CD4C-36AC1ABD1B9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224213" y="6672580"/>
            <a:ext cx="576421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INTERNAL. This information is accessible to ADB Management and Staff. It may be shared outside ADB with appropriate permission.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7"/>
          <p:cNvSpPr>
            <a:spLocks noGrp="1"/>
          </p:cNvSpPr>
          <p:nvPr>
            <p:ph type="body" idx="117" hasCustomPrompt="1"/>
          </p:nvPr>
        </p:nvSpPr>
        <p:spPr>
          <a:xfrm>
            <a:off x="813816" y="214884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BACB"/>
                </a:solidFill>
              </a:rPr>
              <a:t>Exercise 2 · Group [number]</a:t>
            </a:r>
            <a:endParaRPr lang="en-US" sz="2000" dirty="0"/>
          </a:p>
        </p:txBody>
      </p:sp>
      <p:sp>
        <p:nvSpPr>
          <p:cNvPr id="3" name="Text 17"/>
          <p:cNvSpPr>
            <a:spLocks noGrp="1"/>
          </p:cNvSpPr>
          <p:nvPr>
            <p:ph type="title" idx="118" hasCustomPrompt="1"/>
          </p:nvPr>
        </p:nvSpPr>
        <p:spPr>
          <a:xfrm>
            <a:off x="813816" y="2560320"/>
            <a:ext cx="1056406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2EFE7"/>
                </a:solidFill>
              </a:rPr>
              <a:t>How Immigration Can Raise Wages</a:t>
            </a:r>
            <a:endParaRPr lang="en-US" sz="4600" dirty="0"/>
          </a:p>
        </p:txBody>
      </p:sp>
      <p:sp>
        <p:nvSpPr>
          <p:cNvPr id="4" name="Text 17"/>
          <p:cNvSpPr>
            <a:spLocks noGrp="1"/>
          </p:cNvSpPr>
          <p:nvPr>
            <p:ph type="body" idx="119" hasCustomPrompt="1"/>
          </p:nvPr>
        </p:nvSpPr>
        <p:spPr>
          <a:xfrm>
            <a:off x="813816" y="4069080"/>
            <a:ext cx="105640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F2A65A"/>
                </a:solidFill>
              </a:rPr>
              <a:t>[Add a subtitle that states your group’s interpretation]</a:t>
            </a:r>
            <a:endParaRPr lang="en-US" sz="2400" dirty="0"/>
          </a:p>
        </p:txBody>
      </p:sp>
      <p:sp>
        <p:nvSpPr>
          <p:cNvPr id="5" name="Text 17"/>
          <p:cNvSpPr>
            <a:spLocks noGrp="1"/>
          </p:cNvSpPr>
          <p:nvPr>
            <p:ph type="body" idx="120" hasCustomPrompt="1"/>
          </p:nvPr>
        </p:nvSpPr>
        <p:spPr>
          <a:xfrm>
            <a:off x="813816" y="4846320"/>
            <a:ext cx="105640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C9D5E0"/>
                </a:solidFill>
              </a:rPr>
              <a:t>Group members: [Add all names]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2 · OUR PERSPECTIVE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Our Perspective on the Experiment</a:t>
            </a: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a short headline about its relevance to your group]</a:t>
            </a:r>
            <a:endParaRPr lang="en-US" sz="1900" dirty="0"/>
          </a:p>
        </p:txBody>
      </p:sp>
      <p:sp>
        <p:nvSpPr>
          <p:cNvPr id="5" name="Perspective card 1"/>
          <p:cNvSpPr/>
          <p:nvPr/>
        </p:nvSpPr>
        <p:spPr>
          <a:xfrm>
            <a:off x="813816" y="2057400"/>
            <a:ext cx="10564063" cy="1097280"/>
          </a:xfrm>
          <a:prstGeom prst="roundRect">
            <a:avLst>
              <a:gd name="adj" fmla="val 9167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erspective icon circle 1"/>
          <p:cNvSpPr/>
          <p:nvPr/>
        </p:nvSpPr>
        <p:spPr>
          <a:xfrm>
            <a:off x="1088136" y="2276856"/>
            <a:ext cx="658368" cy="658368"/>
          </a:xfrm>
          <a:prstGeom prst="ellipse">
            <a:avLst/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Perspective icon 1" descr="Connection with our 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441448"/>
            <a:ext cx="329184" cy="329184"/>
          </a:xfrm>
          <a:prstGeom prst="rect">
            <a:avLst/>
          </a:prstGeom>
        </p:spPr>
      </p:pic>
      <p:sp>
        <p:nvSpPr>
          <p:cNvPr id="8" name="Perspective heading 1"/>
          <p:cNvSpPr txBox="1"/>
          <p:nvPr/>
        </p:nvSpPr>
        <p:spPr>
          <a:xfrm>
            <a:off x="2002536" y="2212848"/>
            <a:ext cx="91010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73C"/>
                </a:solidFill>
              </a:rPr>
              <a:t>Connection with our work</a:t>
            </a:r>
            <a:endParaRPr lang="en-US" sz="2000" dirty="0"/>
          </a:p>
        </p:txBody>
      </p:sp>
      <p:sp>
        <p:nvSpPr>
          <p:cNvPr id="9" name="Perspective text 1"/>
          <p:cNvSpPr txBox="1"/>
          <p:nvPr/>
        </p:nvSpPr>
        <p:spPr>
          <a:xfrm>
            <a:off x="2002536" y="2587752"/>
            <a:ext cx="91010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6424F"/>
                </a:solidFill>
              </a:rPr>
              <a:t>[How does this experiment relate to your role, sector, or economy?]</a:t>
            </a:r>
            <a:endParaRPr lang="en-US" sz="1800" dirty="0"/>
          </a:p>
        </p:txBody>
      </p:sp>
      <p:sp>
        <p:nvSpPr>
          <p:cNvPr id="10" name="Perspective card 2"/>
          <p:cNvSpPr/>
          <p:nvPr/>
        </p:nvSpPr>
        <p:spPr>
          <a:xfrm>
            <a:off x="813816" y="3355848"/>
            <a:ext cx="10564063" cy="1097280"/>
          </a:xfrm>
          <a:prstGeom prst="roundRect">
            <a:avLst>
              <a:gd name="adj" fmla="val 9167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erspective icon circle 2"/>
          <p:cNvSpPr/>
          <p:nvPr/>
        </p:nvSpPr>
        <p:spPr>
          <a:xfrm>
            <a:off x="1088136" y="3575304"/>
            <a:ext cx="658368" cy="658368"/>
          </a:xfrm>
          <a:prstGeom prst="ellipse">
            <a:avLst/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erspective icon 2" descr="Experience with a similar sh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3739896"/>
            <a:ext cx="329184" cy="329184"/>
          </a:xfrm>
          <a:prstGeom prst="rect">
            <a:avLst/>
          </a:prstGeom>
        </p:spPr>
      </p:pic>
      <p:sp>
        <p:nvSpPr>
          <p:cNvPr id="13" name="Perspective heading 2"/>
          <p:cNvSpPr txBox="1"/>
          <p:nvPr/>
        </p:nvSpPr>
        <p:spPr>
          <a:xfrm>
            <a:off x="2002536" y="3511296"/>
            <a:ext cx="91010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73C"/>
                </a:solidFill>
              </a:rPr>
              <a:t>Experience with a similar shock</a:t>
            </a:r>
            <a:endParaRPr lang="en-US" sz="2000" dirty="0"/>
          </a:p>
        </p:txBody>
      </p:sp>
      <p:sp>
        <p:nvSpPr>
          <p:cNvPr id="14" name="Perspective text 2"/>
          <p:cNvSpPr txBox="1"/>
          <p:nvPr/>
        </p:nvSpPr>
        <p:spPr>
          <a:xfrm>
            <a:off x="2002536" y="3886200"/>
            <a:ext cx="91010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6424F"/>
                </a:solidFill>
              </a:rPr>
              <a:t>[Describe an example, or explain why this shock matters to your group]</a:t>
            </a:r>
            <a:endParaRPr lang="en-US" sz="1800" dirty="0"/>
          </a:p>
        </p:txBody>
      </p:sp>
      <p:sp>
        <p:nvSpPr>
          <p:cNvPr id="15" name="Perspective card 3"/>
          <p:cNvSpPr/>
          <p:nvPr/>
        </p:nvSpPr>
        <p:spPr>
          <a:xfrm>
            <a:off x="813816" y="4654296"/>
            <a:ext cx="10564063" cy="1097280"/>
          </a:xfrm>
          <a:prstGeom prst="roundRect">
            <a:avLst>
              <a:gd name="adj" fmla="val 9167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erspective icon circle 3"/>
          <p:cNvSpPr/>
          <p:nvPr/>
        </p:nvSpPr>
        <p:spPr>
          <a:xfrm>
            <a:off x="1088136" y="4873752"/>
            <a:ext cx="658368" cy="658368"/>
          </a:xfrm>
          <a:prstGeom prst="ellipse">
            <a:avLst/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Perspective icon 3" descr="Our initial though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728" y="5038344"/>
            <a:ext cx="329184" cy="329184"/>
          </a:xfrm>
          <a:prstGeom prst="rect">
            <a:avLst/>
          </a:prstGeom>
        </p:spPr>
      </p:pic>
      <p:sp>
        <p:nvSpPr>
          <p:cNvPr id="18" name="Perspective heading 3"/>
          <p:cNvSpPr txBox="1"/>
          <p:nvPr/>
        </p:nvSpPr>
        <p:spPr>
          <a:xfrm>
            <a:off x="2002536" y="4809744"/>
            <a:ext cx="91010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73C"/>
                </a:solidFill>
              </a:rPr>
              <a:t>Our initial thoughts</a:t>
            </a:r>
            <a:endParaRPr lang="en-US" sz="2000" dirty="0"/>
          </a:p>
        </p:txBody>
      </p:sp>
      <p:sp>
        <p:nvSpPr>
          <p:cNvPr id="19" name="Perspective text 3"/>
          <p:cNvSpPr txBox="1"/>
          <p:nvPr/>
        </p:nvSpPr>
        <p:spPr>
          <a:xfrm>
            <a:off x="2002536" y="5184648"/>
            <a:ext cx="91010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6424F"/>
                </a:solidFill>
              </a:rPr>
              <a:t>[What did you expect, or what aspect did you want to explore?]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2 · RESULTS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Factor Prices and Real GDP</a:t>
            </a: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the comparison your group finds most important]</a:t>
            </a:r>
            <a:endParaRPr lang="en-US" sz="1900" dirty="0"/>
          </a:p>
        </p:txBody>
      </p:sp>
      <p:sp>
        <p:nvSpPr>
          <p:cNvPr id="5" name="Table caption"/>
          <p:cNvSpPr txBox="1"/>
          <p:nvPr/>
        </p:nvSpPr>
        <p:spPr>
          <a:xfrm>
            <a:off x="813816" y="205740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73C"/>
                </a:solidFill>
              </a:rPr>
              <a:t>Table 2.1: Effects of a 10% increase in US unskilled labor</a:t>
            </a:r>
            <a:endParaRPr lang="en-US" sz="1700" dirty="0"/>
          </a:p>
        </p:txBody>
      </p:sp>
      <p:sp>
        <p:nvSpPr>
          <p:cNvPr id="6" name="Table units"/>
          <p:cNvSpPr txBox="1"/>
          <p:nvPr/>
        </p:nvSpPr>
        <p:spPr>
          <a:xfrm>
            <a:off x="813816" y="23682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6B78"/>
                </a:solidFill>
              </a:rPr>
              <a:t>% change from the baseline</a:t>
            </a:r>
            <a:endParaRPr lang="en-US" sz="1500" dirty="0"/>
          </a:p>
        </p:txBody>
      </p:sp>
      <p:graphicFrame>
        <p:nvGraphicFramePr>
          <p:cNvPr id="7" name="Table 2.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770632"/>
          <a:ext cx="7223760" cy="19202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Outcome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RunGTAP variable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BORJAS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OTTA1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OTTA2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424F"/>
                          </a:solidFill>
                        </a:rPr>
                        <a:t>Unskilled wage in AGR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pfe(UNSKILLED,AGR,USA)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424F"/>
                          </a:solidFill>
                        </a:rPr>
                        <a:t>Skilled wage in MFG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pfe(SKILLED,MFG,USA)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424F"/>
                          </a:solidFill>
                        </a:rPr>
                        <a:t>Capital rent in SER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pfe(CAPITAL,SER,USA)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424F"/>
                          </a:solidFill>
                        </a:rPr>
                        <a:t>Real GDP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qgdp(USA)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How to read it card"/>
          <p:cNvSpPr/>
          <p:nvPr/>
        </p:nvSpPr>
        <p:spPr>
          <a:xfrm>
            <a:off x="8330184" y="2057400"/>
            <a:ext cx="3047695" cy="3931920"/>
          </a:xfrm>
          <a:prstGeom prst="roundRect">
            <a:avLst>
              <a:gd name="adj" fmla="val 3300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586216" y="2258568"/>
            <a:ext cx="2535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6A72"/>
                </a:solidFill>
              </a:rPr>
              <a:t>THE THREE EXPERIMENTS</a:t>
            </a:r>
            <a:endParaRPr lang="en-US" sz="1200" dirty="0"/>
          </a:p>
        </p:txBody>
      </p:sp>
      <p:sp>
        <p:nvSpPr>
          <p:cNvPr id="10" name="How to read it text"/>
          <p:cNvSpPr txBox="1"/>
          <p:nvPr/>
        </p:nvSpPr>
        <p:spPr>
          <a:xfrm>
            <a:off x="8586216" y="2624328"/>
            <a:ext cx="2535631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In all three runs: unskilled labor +10%, qe(UNSKILLED,USA) = 10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BORJAS: ESUBVA = 12 in AGR, MFG and SER (factors are close substitutes)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OTTA1: ESUBVA = 0.2 in AGR, 0.5 in MFG and SER (poor substitutes)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OTTA2: OTTA1 plus qe(CAPITAL,USA) = 6%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uiding question card"/>
          <p:cNvSpPr/>
          <p:nvPr/>
        </p:nvSpPr>
        <p:spPr>
          <a:xfrm>
            <a:off x="813816" y="2057400"/>
            <a:ext cx="10564063" cy="1051560"/>
          </a:xfrm>
          <a:prstGeom prst="roundRect">
            <a:avLst>
              <a:gd name="adj" fmla="val 9565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88136" y="2130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6A72"/>
                </a:solidFill>
              </a:rPr>
              <a:t>GUIDING QUESTION 1</a:t>
            </a:r>
            <a:endParaRPr lang="en-US" sz="1200" dirty="0"/>
          </a:p>
        </p:txBody>
      </p:sp>
      <p:sp>
        <p:nvSpPr>
          <p:cNvPr id="4" name="Explanation card"/>
          <p:cNvSpPr/>
          <p:nvPr/>
        </p:nvSpPr>
        <p:spPr>
          <a:xfrm>
            <a:off x="813816" y="3310128"/>
            <a:ext cx="6720840" cy="2679192"/>
          </a:xfrm>
          <a:prstGeom prst="roundRect">
            <a:avLst>
              <a:gd name="adj" fmla="val 3754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88136" y="3511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04E12"/>
                </a:solidFill>
              </a:rPr>
              <a:t>OUR EXPLANATION</a:t>
            </a:r>
            <a:endParaRPr lang="en-US" sz="1200" dirty="0"/>
          </a:p>
        </p:txBody>
      </p:sp>
      <p:sp>
        <p:nvSpPr>
          <p:cNvPr id="6" name="Supporting result card"/>
          <p:cNvSpPr/>
          <p:nvPr/>
        </p:nvSpPr>
        <p:spPr>
          <a:xfrm>
            <a:off x="7772400" y="3310128"/>
            <a:ext cx="3605479" cy="2679192"/>
          </a:xfrm>
          <a:prstGeom prst="roundRect">
            <a:avLst>
              <a:gd name="adj" fmla="val 3754"/>
            </a:avLst>
          </a:prstGeom>
          <a:solidFill>
            <a:srgbClr val="142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0" y="3511296"/>
            <a:ext cx="3056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</a:rPr>
              <a:t>SUPPORTING RESULT</a:t>
            </a:r>
            <a:endParaRPr lang="en-US" sz="1200" dirty="0"/>
          </a:p>
        </p:txBody>
      </p:sp>
      <p:sp>
        <p:nvSpPr>
          <p:cNvPr id="8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2 · GUIDING QUESTION 1</a:t>
            </a:r>
            <a:endParaRPr lang="en-US" sz="1300" dirty="0"/>
          </a:p>
        </p:txBody>
      </p:sp>
      <p:sp>
        <p:nvSpPr>
          <p:cNvPr id="9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The Substitution Assumption</a:t>
            </a:r>
            <a:endParaRPr lang="en-US" sz="3200" dirty="0"/>
          </a:p>
        </p:txBody>
      </p:sp>
      <p:sp>
        <p:nvSpPr>
          <p:cNvPr id="10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your group’s answer as a short headline]</a:t>
            </a:r>
            <a:endParaRPr lang="en-US" sz="1900" dirty="0"/>
          </a:p>
        </p:txBody>
      </p:sp>
      <p:sp>
        <p:nvSpPr>
          <p:cNvPr id="11" name="Text 0"/>
          <p:cNvSpPr>
            <a:spLocks noGrp="1"/>
          </p:cNvSpPr>
          <p:nvPr>
            <p:ph type="body" idx="103" hasCustomPrompt="1"/>
          </p:nvPr>
        </p:nvSpPr>
        <p:spPr>
          <a:xfrm>
            <a:off x="1088136" y="2386584"/>
            <a:ext cx="1001542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4273C"/>
                </a:solidFill>
              </a:rPr>
              <a:t>What does changing ESUBVA from the BORJAS values to the OTTA values assume about substitution among production factors?</a:t>
            </a:r>
            <a:endParaRPr lang="en-US" sz="1900" dirty="0"/>
          </a:p>
        </p:txBody>
      </p:sp>
      <p:sp>
        <p:nvSpPr>
          <p:cNvPr id="12" name="Text 0"/>
          <p:cNvSpPr>
            <a:spLocks noGrp="1"/>
          </p:cNvSpPr>
          <p:nvPr>
            <p:ph type="body" idx="104" hasCustomPrompt="1"/>
          </p:nvPr>
        </p:nvSpPr>
        <p:spPr>
          <a:xfrm>
            <a:off x="1088136" y="3877056"/>
            <a:ext cx="61722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6424F"/>
                </a:solidFill>
              </a:rPr>
              <a:t>[Add your explanation here: name the mechanism behind the result]</a:t>
            </a:r>
            <a:endParaRPr lang="en-US" sz="1800" dirty="0"/>
          </a:p>
        </p:txBody>
      </p:sp>
      <p:sp>
        <p:nvSpPr>
          <p:cNvPr id="13" name="Text 0"/>
          <p:cNvSpPr>
            <a:spLocks noGrp="1"/>
          </p:cNvSpPr>
          <p:nvPr>
            <p:ph type="body" idx="105" hasCustomPrompt="1"/>
          </p:nvPr>
        </p:nvSpPr>
        <p:spPr>
          <a:xfrm>
            <a:off x="8046720" y="3877056"/>
            <a:ext cx="3056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2EFE7"/>
                </a:solidFill>
              </a:rPr>
              <a:t>[Key number]</a:t>
            </a:r>
            <a:endParaRPr lang="en-US" sz="4000" dirty="0"/>
          </a:p>
        </p:txBody>
      </p:sp>
      <p:sp>
        <p:nvSpPr>
          <p:cNvPr id="14" name="Text 0"/>
          <p:cNvSpPr>
            <a:spLocks noGrp="1"/>
          </p:cNvSpPr>
          <p:nvPr>
            <p:ph type="body" idx="106" hasCustomPrompt="1"/>
          </p:nvPr>
        </p:nvSpPr>
        <p:spPr>
          <a:xfrm>
            <a:off x="8046720" y="4773168"/>
            <a:ext cx="3056839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D5E0"/>
                </a:solidFill>
              </a:rPr>
              <a:t>[Variable or comparison, and what it shows]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uiding question card"/>
          <p:cNvSpPr/>
          <p:nvPr/>
        </p:nvSpPr>
        <p:spPr>
          <a:xfrm>
            <a:off x="813816" y="2057400"/>
            <a:ext cx="10564063" cy="1051560"/>
          </a:xfrm>
          <a:prstGeom prst="roundRect">
            <a:avLst>
              <a:gd name="adj" fmla="val 9565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88136" y="2130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6A72"/>
                </a:solidFill>
              </a:rPr>
              <a:t>GUIDING QUESTION 2</a:t>
            </a:r>
            <a:endParaRPr lang="en-US" sz="1200" dirty="0"/>
          </a:p>
        </p:txBody>
      </p:sp>
      <p:sp>
        <p:nvSpPr>
          <p:cNvPr id="4" name="Explanation card"/>
          <p:cNvSpPr/>
          <p:nvPr/>
        </p:nvSpPr>
        <p:spPr>
          <a:xfrm>
            <a:off x="813816" y="3310128"/>
            <a:ext cx="6720840" cy="2679192"/>
          </a:xfrm>
          <a:prstGeom prst="roundRect">
            <a:avLst>
              <a:gd name="adj" fmla="val 3754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88136" y="3511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04E12"/>
                </a:solidFill>
              </a:rPr>
              <a:t>OUR EXPLANATION</a:t>
            </a:r>
            <a:endParaRPr lang="en-US" sz="1200" dirty="0"/>
          </a:p>
        </p:txBody>
      </p:sp>
      <p:sp>
        <p:nvSpPr>
          <p:cNvPr id="6" name="Supporting result card"/>
          <p:cNvSpPr/>
          <p:nvPr/>
        </p:nvSpPr>
        <p:spPr>
          <a:xfrm>
            <a:off x="7772400" y="3310128"/>
            <a:ext cx="3605479" cy="2679192"/>
          </a:xfrm>
          <a:prstGeom prst="roundRect">
            <a:avLst>
              <a:gd name="adj" fmla="val 3754"/>
            </a:avLst>
          </a:prstGeom>
          <a:solidFill>
            <a:srgbClr val="142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0" y="3511296"/>
            <a:ext cx="3056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</a:rPr>
              <a:t>SUPPORTING RESULT</a:t>
            </a:r>
            <a:endParaRPr lang="en-US" sz="1200" dirty="0"/>
          </a:p>
        </p:txBody>
      </p:sp>
      <p:sp>
        <p:nvSpPr>
          <p:cNvPr id="8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2 · GUIDING QUESTION 2</a:t>
            </a:r>
            <a:endParaRPr lang="en-US" sz="1300" dirty="0"/>
          </a:p>
        </p:txBody>
      </p:sp>
      <p:sp>
        <p:nvSpPr>
          <p:cNvPr id="9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Factor Prices under Different Assumptions</a:t>
            </a:r>
            <a:endParaRPr lang="en-US" sz="3200" dirty="0"/>
          </a:p>
        </p:txBody>
      </p:sp>
      <p:sp>
        <p:nvSpPr>
          <p:cNvPr id="10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your group’s answer as a short headline]</a:t>
            </a:r>
            <a:endParaRPr lang="en-US" sz="1900" dirty="0"/>
          </a:p>
        </p:txBody>
      </p:sp>
      <p:sp>
        <p:nvSpPr>
          <p:cNvPr id="11" name="Text 0"/>
          <p:cNvSpPr>
            <a:spLocks noGrp="1"/>
          </p:cNvSpPr>
          <p:nvPr>
            <p:ph type="body" idx="103" hasCustomPrompt="1"/>
          </p:nvPr>
        </p:nvSpPr>
        <p:spPr>
          <a:xfrm>
            <a:off x="1088136" y="2386584"/>
            <a:ext cx="1001542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4273C"/>
                </a:solidFill>
              </a:rPr>
              <a:t>With the same labor shock, how do the three selected factor prices differ between BORJAS and OTTA1?</a:t>
            </a:r>
            <a:endParaRPr lang="en-US" sz="1900" dirty="0"/>
          </a:p>
        </p:txBody>
      </p:sp>
      <p:sp>
        <p:nvSpPr>
          <p:cNvPr id="12" name="Text 0"/>
          <p:cNvSpPr>
            <a:spLocks noGrp="1"/>
          </p:cNvSpPr>
          <p:nvPr>
            <p:ph type="body" idx="104" hasCustomPrompt="1"/>
          </p:nvPr>
        </p:nvSpPr>
        <p:spPr>
          <a:xfrm>
            <a:off x="1088136" y="3877056"/>
            <a:ext cx="61722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6424F"/>
                </a:solidFill>
              </a:rPr>
              <a:t>[Add your explanation here: name the mechanism behind the result]</a:t>
            </a:r>
            <a:endParaRPr lang="en-US" sz="1800" dirty="0"/>
          </a:p>
        </p:txBody>
      </p:sp>
      <p:sp>
        <p:nvSpPr>
          <p:cNvPr id="13" name="Text 0"/>
          <p:cNvSpPr>
            <a:spLocks noGrp="1"/>
          </p:cNvSpPr>
          <p:nvPr>
            <p:ph type="body" idx="105" hasCustomPrompt="1"/>
          </p:nvPr>
        </p:nvSpPr>
        <p:spPr>
          <a:xfrm>
            <a:off x="8046720" y="3877056"/>
            <a:ext cx="3056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2EFE7"/>
                </a:solidFill>
              </a:rPr>
              <a:t>[Key number]</a:t>
            </a:r>
            <a:endParaRPr lang="en-US" sz="4000" dirty="0"/>
          </a:p>
        </p:txBody>
      </p:sp>
      <p:sp>
        <p:nvSpPr>
          <p:cNvPr id="14" name="Text 0"/>
          <p:cNvSpPr>
            <a:spLocks noGrp="1"/>
          </p:cNvSpPr>
          <p:nvPr>
            <p:ph type="body" idx="106" hasCustomPrompt="1"/>
          </p:nvPr>
        </p:nvSpPr>
        <p:spPr>
          <a:xfrm>
            <a:off x="8046720" y="4773168"/>
            <a:ext cx="3056839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D5E0"/>
                </a:solidFill>
              </a:rPr>
              <a:t>[Variable or comparison, and what it shows]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uiding question card"/>
          <p:cNvSpPr/>
          <p:nvPr/>
        </p:nvSpPr>
        <p:spPr>
          <a:xfrm>
            <a:off x="813816" y="2057400"/>
            <a:ext cx="10564063" cy="1051560"/>
          </a:xfrm>
          <a:prstGeom prst="roundRect">
            <a:avLst>
              <a:gd name="adj" fmla="val 9565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88136" y="2130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6A72"/>
                </a:solidFill>
              </a:rPr>
              <a:t>GUIDING QUESTION 3</a:t>
            </a:r>
            <a:endParaRPr lang="en-US" sz="1200" dirty="0"/>
          </a:p>
        </p:txBody>
      </p:sp>
      <p:sp>
        <p:nvSpPr>
          <p:cNvPr id="4" name="Explanation card"/>
          <p:cNvSpPr/>
          <p:nvPr/>
        </p:nvSpPr>
        <p:spPr>
          <a:xfrm>
            <a:off x="813816" y="3310128"/>
            <a:ext cx="6720840" cy="2679192"/>
          </a:xfrm>
          <a:prstGeom prst="roundRect">
            <a:avLst>
              <a:gd name="adj" fmla="val 3754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88136" y="3511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04E12"/>
                </a:solidFill>
              </a:rPr>
              <a:t>OUR EXPLANATION</a:t>
            </a:r>
            <a:endParaRPr lang="en-US" sz="1200" dirty="0"/>
          </a:p>
        </p:txBody>
      </p:sp>
      <p:sp>
        <p:nvSpPr>
          <p:cNvPr id="6" name="Supporting result card"/>
          <p:cNvSpPr/>
          <p:nvPr/>
        </p:nvSpPr>
        <p:spPr>
          <a:xfrm>
            <a:off x="7772400" y="3310128"/>
            <a:ext cx="3605479" cy="2679192"/>
          </a:xfrm>
          <a:prstGeom prst="roundRect">
            <a:avLst>
              <a:gd name="adj" fmla="val 3754"/>
            </a:avLst>
          </a:prstGeom>
          <a:solidFill>
            <a:srgbClr val="142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0" y="3511296"/>
            <a:ext cx="3056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</a:rPr>
              <a:t>SUPPORTING RESULT</a:t>
            </a:r>
            <a:endParaRPr lang="en-US" sz="1200" dirty="0"/>
          </a:p>
        </p:txBody>
      </p:sp>
      <p:sp>
        <p:nvSpPr>
          <p:cNvPr id="8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2 · GUIDING QUESTION 3</a:t>
            </a:r>
            <a:endParaRPr lang="en-US" sz="1300" dirty="0"/>
          </a:p>
        </p:txBody>
      </p:sp>
      <p:sp>
        <p:nvSpPr>
          <p:cNvPr id="9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The Effect of Added Capital</a:t>
            </a:r>
            <a:endParaRPr lang="en-US" sz="3200" dirty="0"/>
          </a:p>
        </p:txBody>
      </p:sp>
      <p:sp>
        <p:nvSpPr>
          <p:cNvPr id="10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your group’s answer as a short headline]</a:t>
            </a:r>
            <a:endParaRPr lang="en-US" sz="1900" dirty="0"/>
          </a:p>
        </p:txBody>
      </p:sp>
      <p:sp>
        <p:nvSpPr>
          <p:cNvPr id="11" name="Text 0"/>
          <p:cNvSpPr>
            <a:spLocks noGrp="1"/>
          </p:cNvSpPr>
          <p:nvPr>
            <p:ph type="body" idx="103" hasCustomPrompt="1"/>
          </p:nvPr>
        </p:nvSpPr>
        <p:spPr>
          <a:xfrm>
            <a:off x="1088136" y="2386584"/>
            <a:ext cx="1001542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4273C"/>
                </a:solidFill>
              </a:rPr>
              <a:t>Compared with OTTA1, what happens to those prices when OTTA2 adds qe(CAPITAL,USA) = 6%? Why might the price of capital fall when its supply expands?</a:t>
            </a:r>
            <a:endParaRPr lang="en-US" sz="1900" dirty="0"/>
          </a:p>
        </p:txBody>
      </p:sp>
      <p:sp>
        <p:nvSpPr>
          <p:cNvPr id="12" name="Text 0"/>
          <p:cNvSpPr>
            <a:spLocks noGrp="1"/>
          </p:cNvSpPr>
          <p:nvPr>
            <p:ph type="body" idx="104" hasCustomPrompt="1"/>
          </p:nvPr>
        </p:nvSpPr>
        <p:spPr>
          <a:xfrm>
            <a:off x="1088136" y="3877056"/>
            <a:ext cx="61722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6424F"/>
                </a:solidFill>
              </a:rPr>
              <a:t>[Add your explanation here: name the mechanism behind the result]</a:t>
            </a:r>
            <a:endParaRPr lang="en-US" sz="1800" dirty="0"/>
          </a:p>
        </p:txBody>
      </p:sp>
      <p:sp>
        <p:nvSpPr>
          <p:cNvPr id="13" name="Text 0"/>
          <p:cNvSpPr>
            <a:spLocks noGrp="1"/>
          </p:cNvSpPr>
          <p:nvPr>
            <p:ph type="body" idx="105" hasCustomPrompt="1"/>
          </p:nvPr>
        </p:nvSpPr>
        <p:spPr>
          <a:xfrm>
            <a:off x="8046720" y="3877056"/>
            <a:ext cx="3056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2EFE7"/>
                </a:solidFill>
              </a:rPr>
              <a:t>[Key number]</a:t>
            </a:r>
            <a:endParaRPr lang="en-US" sz="4000" dirty="0"/>
          </a:p>
        </p:txBody>
      </p:sp>
      <p:sp>
        <p:nvSpPr>
          <p:cNvPr id="14" name="Text 0"/>
          <p:cNvSpPr>
            <a:spLocks noGrp="1"/>
          </p:cNvSpPr>
          <p:nvPr>
            <p:ph type="body" idx="106" hasCustomPrompt="1"/>
          </p:nvPr>
        </p:nvSpPr>
        <p:spPr>
          <a:xfrm>
            <a:off x="8046720" y="4773168"/>
            <a:ext cx="3056839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D5E0"/>
                </a:solidFill>
              </a:rPr>
              <a:t>[Variable or comparison, and what it shows]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uiding question card"/>
          <p:cNvSpPr/>
          <p:nvPr/>
        </p:nvSpPr>
        <p:spPr>
          <a:xfrm>
            <a:off x="813816" y="2057400"/>
            <a:ext cx="10564063" cy="1051560"/>
          </a:xfrm>
          <a:prstGeom prst="roundRect">
            <a:avLst>
              <a:gd name="adj" fmla="val 9565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88136" y="2130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6A72"/>
                </a:solidFill>
              </a:rPr>
              <a:t>GUIDING QUESTION 4</a:t>
            </a:r>
            <a:endParaRPr lang="en-US" sz="1200" dirty="0"/>
          </a:p>
        </p:txBody>
      </p:sp>
      <p:sp>
        <p:nvSpPr>
          <p:cNvPr id="4" name="Explanation card"/>
          <p:cNvSpPr/>
          <p:nvPr/>
        </p:nvSpPr>
        <p:spPr>
          <a:xfrm>
            <a:off x="813816" y="3310128"/>
            <a:ext cx="6720840" cy="2679192"/>
          </a:xfrm>
          <a:prstGeom prst="roundRect">
            <a:avLst>
              <a:gd name="adj" fmla="val 3754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88136" y="3511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04E12"/>
                </a:solidFill>
              </a:rPr>
              <a:t>OUR EXPLANATION</a:t>
            </a:r>
            <a:endParaRPr lang="en-US" sz="1200" dirty="0"/>
          </a:p>
        </p:txBody>
      </p:sp>
      <p:sp>
        <p:nvSpPr>
          <p:cNvPr id="6" name="Supporting result card"/>
          <p:cNvSpPr/>
          <p:nvPr/>
        </p:nvSpPr>
        <p:spPr>
          <a:xfrm>
            <a:off x="7772400" y="3310128"/>
            <a:ext cx="3605479" cy="2679192"/>
          </a:xfrm>
          <a:prstGeom prst="roundRect">
            <a:avLst>
              <a:gd name="adj" fmla="val 3754"/>
            </a:avLst>
          </a:prstGeom>
          <a:solidFill>
            <a:srgbClr val="142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0" y="3511296"/>
            <a:ext cx="3056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</a:rPr>
              <a:t>SUPPORTING RESULT</a:t>
            </a:r>
            <a:endParaRPr lang="en-US" sz="1200" dirty="0"/>
          </a:p>
        </p:txBody>
      </p:sp>
      <p:sp>
        <p:nvSpPr>
          <p:cNvPr id="8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2 · GUIDING QUESTION 4</a:t>
            </a:r>
            <a:endParaRPr lang="en-US" sz="1300" dirty="0"/>
          </a:p>
        </p:txBody>
      </p:sp>
      <p:sp>
        <p:nvSpPr>
          <p:cNvPr id="9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Real GDP across the Three Experiments</a:t>
            </a:r>
            <a:endParaRPr lang="en-US" sz="3200" dirty="0"/>
          </a:p>
        </p:txBody>
      </p:sp>
      <p:sp>
        <p:nvSpPr>
          <p:cNvPr id="10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your group’s answer as a short headline]</a:t>
            </a:r>
            <a:endParaRPr lang="en-US" sz="1900" dirty="0"/>
          </a:p>
        </p:txBody>
      </p:sp>
      <p:sp>
        <p:nvSpPr>
          <p:cNvPr id="11" name="Text 0"/>
          <p:cNvSpPr>
            <a:spLocks noGrp="1"/>
          </p:cNvSpPr>
          <p:nvPr>
            <p:ph type="body" idx="103" hasCustomPrompt="1"/>
          </p:nvPr>
        </p:nvSpPr>
        <p:spPr>
          <a:xfrm>
            <a:off x="1088136" y="2386584"/>
            <a:ext cx="1001542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4273C"/>
                </a:solidFill>
              </a:rPr>
              <a:t>Why does real GDP rise in all three experiments? How do the different substitution assumptions affect the size of the response?</a:t>
            </a:r>
            <a:endParaRPr lang="en-US" sz="1900" dirty="0"/>
          </a:p>
        </p:txBody>
      </p:sp>
      <p:sp>
        <p:nvSpPr>
          <p:cNvPr id="12" name="Text 0"/>
          <p:cNvSpPr>
            <a:spLocks noGrp="1"/>
          </p:cNvSpPr>
          <p:nvPr>
            <p:ph type="body" idx="104" hasCustomPrompt="1"/>
          </p:nvPr>
        </p:nvSpPr>
        <p:spPr>
          <a:xfrm>
            <a:off x="1088136" y="3877056"/>
            <a:ext cx="61722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6424F"/>
                </a:solidFill>
              </a:rPr>
              <a:t>[Add your explanation here: name the mechanism behind the result]</a:t>
            </a:r>
            <a:endParaRPr lang="en-US" sz="1800" dirty="0"/>
          </a:p>
        </p:txBody>
      </p:sp>
      <p:sp>
        <p:nvSpPr>
          <p:cNvPr id="13" name="Text 0"/>
          <p:cNvSpPr>
            <a:spLocks noGrp="1"/>
          </p:cNvSpPr>
          <p:nvPr>
            <p:ph type="body" idx="105" hasCustomPrompt="1"/>
          </p:nvPr>
        </p:nvSpPr>
        <p:spPr>
          <a:xfrm>
            <a:off x="8046720" y="3877056"/>
            <a:ext cx="3056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2EFE7"/>
                </a:solidFill>
              </a:rPr>
              <a:t>[Key number]</a:t>
            </a:r>
            <a:endParaRPr lang="en-US" sz="4000" dirty="0"/>
          </a:p>
        </p:txBody>
      </p:sp>
      <p:sp>
        <p:nvSpPr>
          <p:cNvPr id="14" name="Text 0"/>
          <p:cNvSpPr>
            <a:spLocks noGrp="1"/>
          </p:cNvSpPr>
          <p:nvPr>
            <p:ph type="body" idx="106" hasCustomPrompt="1"/>
          </p:nvPr>
        </p:nvSpPr>
        <p:spPr>
          <a:xfrm>
            <a:off x="8046720" y="4773168"/>
            <a:ext cx="3056839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D5E0"/>
                </a:solidFill>
              </a:rPr>
              <a:t>[Variable or comparison, and what it shows]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2 · CONCLUSIONS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Our Conclusions</a:t>
            </a: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your group’s main conclusion]</a:t>
            </a:r>
            <a:endParaRPr lang="en-US" sz="1900" dirty="0"/>
          </a:p>
        </p:txBody>
      </p:sp>
      <p:sp>
        <p:nvSpPr>
          <p:cNvPr id="5" name="Conclusion card 1"/>
          <p:cNvSpPr/>
          <p:nvPr/>
        </p:nvSpPr>
        <p:spPr>
          <a:xfrm>
            <a:off x="813816" y="2057400"/>
            <a:ext cx="3338474" cy="3931920"/>
          </a:xfrm>
          <a:prstGeom prst="roundRect">
            <a:avLst>
              <a:gd name="adj" fmla="val 3013"/>
            </a:avLst>
          </a:prstGeom>
          <a:solidFill>
            <a:srgbClr val="142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Conclusion icon circle 1"/>
          <p:cNvSpPr/>
          <p:nvPr/>
        </p:nvSpPr>
        <p:spPr>
          <a:xfrm>
            <a:off x="1106424" y="2368296"/>
            <a:ext cx="658368" cy="658368"/>
          </a:xfrm>
          <a:prstGeom prst="ellipse">
            <a:avLst/>
          </a:prstGeom>
          <a:solidFill>
            <a:srgbClr val="1F35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Conclusion icon 1" descr="Most important fin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2532888"/>
            <a:ext cx="329184" cy="329184"/>
          </a:xfrm>
          <a:prstGeom prst="rect">
            <a:avLst/>
          </a:prstGeom>
        </p:spPr>
      </p:pic>
      <p:sp>
        <p:nvSpPr>
          <p:cNvPr id="8" name="Conclusion heading 1"/>
          <p:cNvSpPr txBox="1"/>
          <p:nvPr/>
        </p:nvSpPr>
        <p:spPr>
          <a:xfrm>
            <a:off x="1106424" y="3200400"/>
            <a:ext cx="2753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A65A"/>
                </a:solidFill>
              </a:rPr>
              <a:t>Most important finding</a:t>
            </a:r>
            <a:endParaRPr lang="en-US" sz="2100" dirty="0"/>
          </a:p>
        </p:txBody>
      </p:sp>
      <p:sp>
        <p:nvSpPr>
          <p:cNvPr id="9" name="Conclusion text 1"/>
          <p:cNvSpPr txBox="1"/>
          <p:nvPr/>
        </p:nvSpPr>
        <p:spPr>
          <a:xfrm>
            <a:off x="1106424" y="3977640"/>
            <a:ext cx="275325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2EFE7"/>
                </a:solidFill>
              </a:rPr>
              <a:t>[State the result you want the audience to remember]</a:t>
            </a:r>
            <a:endParaRPr lang="en-US" sz="1800" dirty="0"/>
          </a:p>
        </p:txBody>
      </p:sp>
      <p:sp>
        <p:nvSpPr>
          <p:cNvPr id="10" name="Conclusion card 2"/>
          <p:cNvSpPr/>
          <p:nvPr/>
        </p:nvSpPr>
        <p:spPr>
          <a:xfrm>
            <a:off x="4426610" y="2057400"/>
            <a:ext cx="3338474" cy="3931920"/>
          </a:xfrm>
          <a:prstGeom prst="roundRect">
            <a:avLst>
              <a:gd name="adj" fmla="val 3013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nclusion icon circle 2"/>
          <p:cNvSpPr/>
          <p:nvPr/>
        </p:nvSpPr>
        <p:spPr>
          <a:xfrm>
            <a:off x="4719218" y="2368296"/>
            <a:ext cx="658368" cy="658368"/>
          </a:xfrm>
          <a:prstGeom prst="ellipse">
            <a:avLst/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Conclusion icon 2" descr="Implications for our work or polic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810" y="2532888"/>
            <a:ext cx="329184" cy="329184"/>
          </a:xfrm>
          <a:prstGeom prst="rect">
            <a:avLst/>
          </a:prstGeom>
        </p:spPr>
      </p:pic>
      <p:sp>
        <p:nvSpPr>
          <p:cNvPr id="13" name="Conclusion heading 2"/>
          <p:cNvSpPr txBox="1"/>
          <p:nvPr/>
        </p:nvSpPr>
        <p:spPr>
          <a:xfrm>
            <a:off x="4719218" y="3200400"/>
            <a:ext cx="2753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73C"/>
                </a:solidFill>
              </a:rPr>
              <a:t>Implications for our work or policy</a:t>
            </a:r>
            <a:endParaRPr lang="en-US" sz="2100" dirty="0"/>
          </a:p>
        </p:txBody>
      </p:sp>
      <p:sp>
        <p:nvSpPr>
          <p:cNvPr id="14" name="Conclusion text 2"/>
          <p:cNvSpPr txBox="1"/>
          <p:nvPr/>
        </p:nvSpPr>
        <p:spPr>
          <a:xfrm>
            <a:off x="4719218" y="3977640"/>
            <a:ext cx="275325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6424F"/>
                </a:solidFill>
              </a:rPr>
              <a:t>[Explain what your group can take away from this experiment]</a:t>
            </a:r>
            <a:endParaRPr lang="en-US" sz="1800" dirty="0"/>
          </a:p>
        </p:txBody>
      </p:sp>
      <p:sp>
        <p:nvSpPr>
          <p:cNvPr id="15" name="Conclusion card 3"/>
          <p:cNvSpPr/>
          <p:nvPr/>
        </p:nvSpPr>
        <p:spPr>
          <a:xfrm>
            <a:off x="8039405" y="2057400"/>
            <a:ext cx="3338474" cy="3931920"/>
          </a:xfrm>
          <a:prstGeom prst="roundRect">
            <a:avLst>
              <a:gd name="adj" fmla="val 3013"/>
            </a:avLst>
          </a:prstGeom>
          <a:solidFill>
            <a:srgbClr val="F7E3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Conclusion icon circle 3"/>
          <p:cNvSpPr/>
          <p:nvPr/>
        </p:nvSpPr>
        <p:spPr>
          <a:xfrm>
            <a:off x="8332013" y="2368296"/>
            <a:ext cx="658368" cy="658368"/>
          </a:xfrm>
          <a:prstGeom prst="ellipse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Conclusion icon 3" descr="A limitation or remaining ques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605" y="2532888"/>
            <a:ext cx="329184" cy="329184"/>
          </a:xfrm>
          <a:prstGeom prst="rect">
            <a:avLst/>
          </a:prstGeom>
        </p:spPr>
      </p:pic>
      <p:sp>
        <p:nvSpPr>
          <p:cNvPr id="18" name="Conclusion heading 3"/>
          <p:cNvSpPr txBox="1"/>
          <p:nvPr/>
        </p:nvSpPr>
        <p:spPr>
          <a:xfrm>
            <a:off x="8332013" y="3200400"/>
            <a:ext cx="2753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73C"/>
                </a:solidFill>
              </a:rPr>
              <a:t>A limitation or remaining question</a:t>
            </a:r>
            <a:endParaRPr lang="en-US" sz="2100" dirty="0"/>
          </a:p>
        </p:txBody>
      </p:sp>
      <p:sp>
        <p:nvSpPr>
          <p:cNvPr id="19" name="Conclusion text 3"/>
          <p:cNvSpPr txBox="1"/>
          <p:nvPr/>
        </p:nvSpPr>
        <p:spPr>
          <a:xfrm>
            <a:off x="8332013" y="3977640"/>
            <a:ext cx="275325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6424F"/>
                </a:solidFill>
              </a:rPr>
              <a:t>[Identify an assumption, limitation, or question for discussion]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 2026 Workshop">
  <a:themeElements>
    <a:clrScheme name="MAST 2026 Workshop">
      <a:dk1>
        <a:srgbClr val="14273C"/>
      </a:dk1>
      <a:lt1>
        <a:srgbClr val="FFFFFF"/>
      </a:lt1>
      <a:dk2>
        <a:srgbClr val="36424F"/>
      </a:dk2>
      <a:lt2>
        <a:srgbClr val="F5F4EF"/>
      </a:lt2>
      <a:accent1>
        <a:srgbClr val="1D6A72"/>
      </a:accent1>
      <a:accent2>
        <a:srgbClr val="E08A3C"/>
      </a:accent2>
      <a:accent3>
        <a:srgbClr val="A04E12"/>
      </a:accent3>
      <a:accent4>
        <a:srgbClr val="14273C"/>
      </a:accent4>
      <a:accent5>
        <a:srgbClr val="5F8F96"/>
      </a:accent5>
      <a:accent6>
        <a:srgbClr val="5F6B78"/>
      </a:accent6>
      <a:hlink>
        <a:srgbClr val="1D6A72"/>
      </a:hlink>
      <a:folHlink>
        <a:srgbClr val="A04E12"/>
      </a:folHlink>
    </a:clrScheme>
    <a:fontScheme name="MAST 2026 Workshop">
      <a:majorFont>
        <a:latin typeface="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aramo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DB Document" ma:contentTypeID="0x0101008911345A3DAEDD4C94E405931CFDF63500ABC5BDE0A65056449F41FF865698E92A" ma:contentTypeVersion="17" ma:contentTypeDescription="" ma:contentTypeScope="" ma:versionID="7391a75127b8fec2b66cca8503d58ce4">
  <xsd:schema xmlns:xsd="http://www.w3.org/2001/XMLSchema" xmlns:xs="http://www.w3.org/2001/XMLSchema" xmlns:p="http://schemas.microsoft.com/office/2006/metadata/properties" xmlns:ns2="c1fdd505-2570-46c2-bd04-3e0f2d874cf5" xmlns:ns3="3e67d855-eb8c-4ffd-bce5-6c5a51e71190" targetNamespace="http://schemas.microsoft.com/office/2006/metadata/properties" ma:root="true" ma:fieldsID="5f5134b7744ba6388b214a5d9d62e947" ns2:_="" ns3:_="">
    <xsd:import namespace="c1fdd505-2570-46c2-bd04-3e0f2d874cf5"/>
    <xsd:import namespace="3e67d855-eb8c-4ffd-bce5-6c5a51e71190"/>
    <xsd:element name="properties">
      <xsd:complexType>
        <xsd:sequence>
          <xsd:element name="documentManagement">
            <xsd:complexType>
              <xsd:all>
                <xsd:element ref="ns2:ADBDocumentDate" minOccurs="0"/>
                <xsd:element ref="ns2:ADBMonth" minOccurs="0"/>
                <xsd:element ref="ns2:ADBYear" minOccurs="0"/>
                <xsd:element ref="ns2:ADBAuthors" minOccurs="0"/>
                <xsd:element ref="ns2:ADBSourceLink" minOccurs="0"/>
                <xsd:element ref="ns2:ADBCirculatedLink" minOccurs="0"/>
                <xsd:element ref="ns2:d61536b25a8a4fedb48bb564279be82a" minOccurs="0"/>
                <xsd:element ref="ns2:h00e4aaaf4624e24a7df7f06faa038c6" minOccurs="0"/>
                <xsd:element ref="ns2:k985dbdc596c44d7acaf8184f33920f0" minOccurs="0"/>
                <xsd:element ref="ns2:a37ff23a602146d4934a49238d370ca5" minOccurs="0"/>
                <xsd:element ref="ns2:TaxCatchAll" minOccurs="0"/>
                <xsd:element ref="ns2:d01a0ce1b141461dbfb235a3ab729a2c" minOccurs="0"/>
                <xsd:element ref="ns2:p030e467f78f45b4ae8f7e2c17ea4d82" minOccurs="0"/>
                <xsd:element ref="ns2:j78542b1fffc4a1c84659474212e3133" minOccurs="0"/>
                <xsd:element ref="ns2:ADBDocumentTypeValue" minOccurs="0"/>
                <xsd:element ref="ns2:ia017ac09b1942648b563fe0b2b14d52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fdd505-2570-46c2-bd04-3e0f2d874cf5" elementFormDefault="qualified">
    <xsd:import namespace="http://schemas.microsoft.com/office/2006/documentManagement/types"/>
    <xsd:import namespace="http://schemas.microsoft.com/office/infopath/2007/PartnerControls"/>
    <xsd:element name="ADBDocumentDate" ma:index="3" nillable="true" ma:displayName="Document Date" ma:format="DateOnly" ma:internalName="ADBDocumentDate">
      <xsd:simpleType>
        <xsd:restriction base="dms:DateTime"/>
      </xsd:simpleType>
    </xsd:element>
    <xsd:element name="ADBMonth" ma:index="4" nillable="true" ma:displayName="Month" ma:format="Dropdown" ma:internalName="ADBMonth">
      <xsd:simpleType>
        <xsd:restriction base="dms:Choice">
          <xsd:enumeration value="01-Jan"/>
          <xsd:enumeration value="02-Feb"/>
          <xsd:enumeration value="03-Mar"/>
          <xsd:enumeration value="04-Apr"/>
          <xsd:enumeration value="05-May"/>
          <xsd:enumeration value="06-Jun"/>
          <xsd:enumeration value="07-Jul"/>
          <xsd:enumeration value="08-Aug"/>
          <xsd:enumeration value="09-Sep"/>
          <xsd:enumeration value="10-Oct"/>
          <xsd:enumeration value="11-Nov"/>
          <xsd:enumeration value="12-Dec"/>
        </xsd:restriction>
      </xsd:simpleType>
    </xsd:element>
    <xsd:element name="ADBYear" ma:index="5" nillable="true" ma:displayName="Year" ma:internalName="ADBYear">
      <xsd:simpleType>
        <xsd:restriction base="dms:Text">
          <xsd:maxLength value="4"/>
        </xsd:restriction>
      </xsd:simpleType>
    </xsd:element>
    <xsd:element name="ADBAuthors" ma:index="6" nillable="true" ma:displayName="Authors" ma:list="UserInfo" ma:SharePointGroup="0" ma:internalName="ADBAuthors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DBSourceLink" ma:index="13" nillable="true" ma:displayName="Source Link" ma:format="Hyperlink" ma:internalName="ADBSource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DBCirculatedLink" ma:index="14" nillable="true" ma:displayName="Final Document Link" ma:format="Hyperlink" ma:internalName="ADBCirculated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d61536b25a8a4fedb48bb564279be82a" ma:index="16" nillable="true" ma:taxonomy="true" ma:internalName="d61536b25a8a4fedb48bb564279be82a" ma:taxonomyFieldName="ADBDepartmentOwner" ma:displayName="Department Owner" ma:default="" ma:fieldId="{d61536b2-5a8a-4fed-b48b-b564279be82a}" ma:sspId="115af50e-efb3-4a0e-b425-875ff625e09e" ma:termSetId="b965cdb6-1071-4c6a-a9a3-189d53a950d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00e4aaaf4624e24a7df7f06faa038c6" ma:index="18" nillable="true" ma:taxonomy="true" ma:internalName="h00e4aaaf4624e24a7df7f06faa038c6" ma:taxonomyFieldName="ADBDocumentLanguage" ma:displayName="Document Language" ma:default="1;#English|16ac8743-31bb-43f8-9a73-533a041667d6" ma:fieldId="{100e4aaa-f462-4e24-a7df-7f06faa038c6}" ma:sspId="115af50e-efb3-4a0e-b425-875ff625e09e" ma:termSetId="fdf74959-6eb2-4689-a0fc-b9e1ab230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985dbdc596c44d7acaf8184f33920f0" ma:index="20" nillable="true" ma:taxonomy="true" ma:internalName="k985dbdc596c44d7acaf8184f33920f0" ma:taxonomyFieldName="ADBCountry" ma:displayName="Country" ma:default="" ma:fieldId="{4985dbdc-596c-44d7-acaf-8184f33920f0}" ma:sspId="115af50e-efb3-4a0e-b425-875ff625e09e" ma:termSetId="169202c7-46da-431e-ac86-348c41a1f49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37ff23a602146d4934a49238d370ca5" ma:index="21" nillable="true" ma:taxonomy="true" ma:internalName="a37ff23a602146d4934a49238d370ca5" ma:taxonomyFieldName="ADBDocumentType" ma:displayName="ADB Document Type" ma:default="" ma:fieldId="{a37ff23a-6021-46d4-934a-49238d370ca5}" ma:sspId="115af50e-efb3-4a0e-b425-875ff625e09e" ma:termSetId="ebf26521-a829-4b24-b73e-5e500b1bc1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22" nillable="true" ma:displayName="Taxonomy Catch All Column" ma:hidden="true" ma:list="{2abf7e98-c22a-43b4-b40c-4c6f4d2d5830}" ma:internalName="TaxCatchAll" ma:showField="CatchAllData" ma:web="0194400f-db8c-4bb9-acc2-b4cfa8a4e7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d01a0ce1b141461dbfb235a3ab729a2c" ma:index="23" nillable="true" ma:taxonomy="true" ma:internalName="d01a0ce1b141461dbfb235a3ab729a2c" ma:taxonomyFieldName="ADBSector" ma:displayName="Sector" ma:default="" ma:fieldId="{d01a0ce1-b141-461d-bfb2-35a3ab729a2c}" ma:sspId="115af50e-efb3-4a0e-b425-875ff625e09e" ma:termSetId="bae01210-cdc5-4479-86d7-616c28c0a9b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030e467f78f45b4ae8f7e2c17ea4d82" ma:index="27" nillable="true" ma:taxonomy="true" ma:internalName="p030e467f78f45b4ae8f7e2c17ea4d82" ma:taxonomyFieldName="ADBDocumentSecurity" ma:displayName="Document Security" ma:default="" ma:fieldId="{9030e467-f78f-45b4-ae8f-7e2c17ea4d82}" ma:sspId="115af50e-efb3-4a0e-b425-875ff625e09e" ma:termSetId="9b0b4686-afa9-4a02-bc15-8fbc99f1721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78542b1fffc4a1c84659474212e3133" ma:index="29" nillable="true" ma:taxonomy="true" ma:internalName="j78542b1fffc4a1c84659474212e3133" ma:taxonomyFieldName="ADBContentGroup" ma:displayName="Content Group" ma:readOnly="false" ma:default="3;#ERCD|ab3ec0c9-2ce1-477e-8dd0-15d1f7f6b467" ma:fieldId="{378542b1-fffc-4a1c-8465-9474212e3133}" ma:taxonomyMulti="true" ma:sspId="115af50e-efb3-4a0e-b425-875ff625e09e" ma:termSetId="2a9ffbee-93a5-418b-bcdb-8d6817936e6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DBDocumentTypeValue" ma:index="30" nillable="true" ma:displayName="Document Type" ma:hidden="true" ma:internalName="ADBDocumentTypeValue" ma:readOnly="false">
      <xsd:simpleType>
        <xsd:restriction base="dms:Text">
          <xsd:maxLength value="255"/>
        </xsd:restriction>
      </xsd:simpleType>
    </xsd:element>
    <xsd:element name="ia017ac09b1942648b563fe0b2b14d52" ma:index="31" nillable="true" ma:taxonomy="true" ma:internalName="ia017ac09b1942648b563fe0b2b14d52" ma:taxonomyFieldName="ADBDivision" ma:displayName="Division" ma:default="" ma:fieldId="{2a017ac0-9b19-4264-8b56-3fe0b2b14d52}" ma:sspId="115af50e-efb3-4a0e-b425-875ff625e09e" ma:termSetId="d736278f-2140-40cc-b46b-6a0ab0de2d29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67d855-eb8c-4ffd-bce5-6c5a51e71190" elementFormDefault="qualified">
    <xsd:import namespace="http://schemas.microsoft.com/office/2006/documentManagement/types"/>
    <xsd:import namespace="http://schemas.microsoft.com/office/infopath/2007/PartnerControls"/>
    <xsd:element name="MediaServiceLocation" ma:index="32" nillable="true" ma:displayName="Location" ma:internalName="MediaServiceLocation" ma:readOnly="true">
      <xsd:simpleType>
        <xsd:restriction base="dms:Text"/>
      </xsd:simpleType>
    </xsd:element>
    <xsd:element name="MediaServiceAutoKeyPoints" ma:index="3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3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115af50e-efb3-4a0e-b425-875ff625e0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4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33baf70b-9d20-46e6-a2d2-5b92398ba0bc" ContentTypeId="0x0101008911345A3DAEDD4C94E405931CFDF635" PreviousValue="tru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DBDocumentDate xmlns="c1fdd505-2570-46c2-bd04-3e0f2d874cf5" xsi:nil="true"/>
    <ADBMonth xmlns="c1fdd505-2570-46c2-bd04-3e0f2d874cf5" xsi:nil="true"/>
    <a37ff23a602146d4934a49238d370ca5 xmlns="c1fdd505-2570-46c2-bd04-3e0f2d874cf5">
      <Terms xmlns="http://schemas.microsoft.com/office/infopath/2007/PartnerControls"/>
    </a37ff23a602146d4934a49238d370ca5>
    <j78542b1fffc4a1c84659474212e3133 xmlns="c1fdd505-2570-46c2-bd04-3e0f2d874c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ERCD</TermName>
          <TermId xmlns="http://schemas.microsoft.com/office/infopath/2007/PartnerControls">ab3ec0c9-2ce1-477e-8dd0-15d1f7f6b467</TermId>
        </TermInfo>
      </Terms>
    </j78542b1fffc4a1c84659474212e3133>
    <ia017ac09b1942648b563fe0b2b14d52 xmlns="c1fdd505-2570-46c2-bd04-3e0f2d874c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ERMR</TermName>
          <TermId xmlns="http://schemas.microsoft.com/office/infopath/2007/PartnerControls">1b0f6326-b8c9-47db-9084-1685569433b2</TermId>
        </TermInfo>
      </Terms>
    </ia017ac09b1942648b563fe0b2b14d52>
    <ADBYear xmlns="c1fdd505-2570-46c2-bd04-3e0f2d874cf5" xsi:nil="true"/>
    <ADBAuthors xmlns="c1fdd505-2570-46c2-bd04-3e0f2d874cf5">
      <UserInfo>
        <DisplayName/>
        <AccountId xsi:nil="true"/>
        <AccountType/>
      </UserInfo>
    </ADBAuthors>
    <p030e467f78f45b4ae8f7e2c17ea4d82 xmlns="c1fdd505-2570-46c2-bd04-3e0f2d874cf5">
      <Terms xmlns="http://schemas.microsoft.com/office/infopath/2007/PartnerControls"/>
    </p030e467f78f45b4ae8f7e2c17ea4d82>
    <k985dbdc596c44d7acaf8184f33920f0 xmlns="c1fdd505-2570-46c2-bd04-3e0f2d874cf5">
      <Terms xmlns="http://schemas.microsoft.com/office/infopath/2007/PartnerControls"/>
    </k985dbdc596c44d7acaf8184f33920f0>
    <lcf76f155ced4ddcb4097134ff3c332f xmlns="3e67d855-eb8c-4ffd-bce5-6c5a51e71190">
      <Terms xmlns="http://schemas.microsoft.com/office/infopath/2007/PartnerControls"/>
    </lcf76f155ced4ddcb4097134ff3c332f>
    <ADBSourceLink xmlns="c1fdd505-2570-46c2-bd04-3e0f2d874cf5">
      <Url xsi:nil="true"/>
      <Description xsi:nil="true"/>
    </ADBSourceLink>
    <h00e4aaaf4624e24a7df7f06faa038c6 xmlns="c1fdd505-2570-46c2-bd04-3e0f2d874c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English</TermName>
          <TermId xmlns="http://schemas.microsoft.com/office/infopath/2007/PartnerControls">16ac8743-31bb-43f8-9a73-533a041667d6</TermId>
        </TermInfo>
      </Terms>
    </h00e4aaaf4624e24a7df7f06faa038c6>
    <d01a0ce1b141461dbfb235a3ab729a2c xmlns="c1fdd505-2570-46c2-bd04-3e0f2d874cf5">
      <Terms xmlns="http://schemas.microsoft.com/office/infopath/2007/PartnerControls"/>
    </d01a0ce1b141461dbfb235a3ab729a2c>
    <ADBDocumentTypeValue xmlns="c1fdd505-2570-46c2-bd04-3e0f2d874cf5" xsi:nil="true"/>
    <d61536b25a8a4fedb48bb564279be82a xmlns="c1fdd505-2570-46c2-bd04-3e0f2d874c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ERCD</TermName>
          <TermId xmlns="http://schemas.microsoft.com/office/infopath/2007/PartnerControls">ab3ec0c9-2ce1-477e-8dd0-15d1f7f6b467</TermId>
        </TermInfo>
      </Terms>
    </d61536b25a8a4fedb48bb564279be82a>
    <ADBCirculatedLink xmlns="c1fdd505-2570-46c2-bd04-3e0f2d874cf5">
      <Url xsi:nil="true"/>
      <Description xsi:nil="true"/>
    </ADBCirculatedLink>
    <TaxCatchAll xmlns="c1fdd505-2570-46c2-bd04-3e0f2d874cf5">
      <Value>4</Value>
      <Value>3</Value>
      <Value>1</Value>
      <Value>7</Value>
    </TaxCatchAll>
  </documentManagement>
</p:properties>
</file>

<file path=customXml/itemProps1.xml><?xml version="1.0" encoding="utf-8"?>
<ds:datastoreItem xmlns:ds="http://schemas.openxmlformats.org/officeDocument/2006/customXml" ds:itemID="{C3CD8BF3-5AE9-420A-8DEB-5DEC04D8A036}"/>
</file>

<file path=customXml/itemProps2.xml><?xml version="1.0" encoding="utf-8"?>
<ds:datastoreItem xmlns:ds="http://schemas.openxmlformats.org/officeDocument/2006/customXml" ds:itemID="{1D411E13-5B6F-4C4B-B35E-6311EB5BB892}"/>
</file>

<file path=customXml/itemProps3.xml><?xml version="1.0" encoding="utf-8"?>
<ds:datastoreItem xmlns:ds="http://schemas.openxmlformats.org/officeDocument/2006/customXml" ds:itemID="{D084AEBF-22BD-4232-B10D-424D9C58C1B3}"/>
</file>

<file path=customXml/itemProps4.xml><?xml version="1.0" encoding="utf-8"?>
<ds:datastoreItem xmlns:ds="http://schemas.openxmlformats.org/officeDocument/2006/customXml" ds:itemID="{61275DBB-0C6A-40E0-9EBF-F00AB38EE8B1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652</Words>
  <Application>Microsoft Office PowerPoint</Application>
  <PresentationFormat>Widescreen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Consolas</vt:lpstr>
      <vt:lpstr>Garamond</vt:lpstr>
      <vt:lpstr>MAST 2026 Workshop</vt:lpstr>
      <vt:lpstr>How Immigration Can Raise Wages</vt:lpstr>
      <vt:lpstr>Our Perspective on the Experiment</vt:lpstr>
      <vt:lpstr>Factor Prices and Real GDP</vt:lpstr>
      <vt:lpstr>The Substitution Assumption</vt:lpstr>
      <vt:lpstr>Factor Prices under Different Assumptions</vt:lpstr>
      <vt:lpstr>The Effect of Added Capital</vt:lpstr>
      <vt:lpstr>Real GDP across the Three Experiments</vt:lpstr>
      <vt:lpstr>Our Conclusions</vt:lpstr>
    </vt:vector>
  </TitlesOfParts>
  <Company>Asian Development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 2026 · Exercise 2: How Immigration Can Raise Wages</dc:title>
  <dc:subject>Group presentation template, Session 3</dc:subject>
  <dc:creator>rsfernando@adb.org</dc:creator>
  <cp:lastModifiedBy>Roshen Fernando</cp:lastModifiedBy>
  <cp:revision>1</cp:revision>
  <dcterms:created xsi:type="dcterms:W3CDTF">2026-10-23T13:23:46Z</dcterms:created>
  <dcterms:modified xsi:type="dcterms:W3CDTF">2026-10-25T02:09:46Z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17d4574-7375-4d17-b29c-6e4c6df0fcb0_Enabled">
    <vt:lpwstr>true</vt:lpwstr>
  </property>
  <property fmtid="{D5CDD505-2E9C-101B-9397-08002B2CF9AE}" pid="3" name="MSIP_Label_817d4574-7375-4d17-b29c-6e4c6df0fcb0_SetDate">
    <vt:lpwstr>2026-09-30T01:52:23Z</vt:lpwstr>
  </property>
  <property fmtid="{D5CDD505-2E9C-101B-9397-08002B2CF9AE}" pid="4" name="MSIP_Label_817d4574-7375-4d17-b29c-6e4c6df0fcb0_Method">
    <vt:lpwstr>Standard</vt:lpwstr>
  </property>
  <property fmtid="{D5CDD505-2E9C-101B-9397-08002B2CF9AE}" pid="5" name="MSIP_Label_817d4574-7375-4d17-b29c-6e4c6df0fcb0_Name">
    <vt:lpwstr>ADB Internal</vt:lpwstr>
  </property>
  <property fmtid="{D5CDD505-2E9C-101B-9397-08002B2CF9AE}" pid="6" name="MSIP_Label_817d4574-7375-4d17-b29c-6e4c6df0fcb0_SiteId">
    <vt:lpwstr>9495d6bb-41c2-4c58-848f-92e52cf3d640</vt:lpwstr>
  </property>
  <property fmtid="{D5CDD505-2E9C-101B-9397-08002B2CF9AE}" pid="7" name="MSIP_Label_817d4574-7375-4d17-b29c-6e4c6df0fcb0_ActionId">
    <vt:lpwstr>2012fd71-8569-4aa2-af1a-11fce66f1c77</vt:lpwstr>
  </property>
  <property fmtid="{D5CDD505-2E9C-101B-9397-08002B2CF9AE}" pid="8" name="MSIP_Label_817d4574-7375-4d17-b29c-6e4c6df0fcb0_ContentBits">
    <vt:lpwstr>2</vt:lpwstr>
  </property>
  <property fmtid="{D5CDD505-2E9C-101B-9397-08002B2CF9AE}" pid="9" name="MSIP_Label_817d4574-7375-4d17-b29c-6e4c6df0fcb0_Tag">
    <vt:lpwstr>10, 3, 0, 1</vt:lpwstr>
  </property>
  <property fmtid="{D5CDD505-2E9C-101B-9397-08002B2CF9AE}" pid="10" name="ClassificationContentMarkingFooterLocations">
    <vt:lpwstr>MAST 2026 Workshop:900</vt:lpwstr>
  </property>
  <property fmtid="{D5CDD505-2E9C-101B-9397-08002B2CF9AE}" pid="11" name="ClassificationContentMarkingFooterText">
    <vt:lpwstr>INTERNAL. This information is accessible to ADB Management and Staff. It may be shared outside ADB with appropriate permission.</vt:lpwstr>
  </property>
  <property fmtid="{D5CDD505-2E9C-101B-9397-08002B2CF9AE}" pid="12" name="ContentTypeId">
    <vt:lpwstr>0x0101008911345A3DAEDD4C94E405931CFDF63500ABC5BDE0A65056449F41FF865698E92A</vt:lpwstr>
  </property>
  <property fmtid="{D5CDD505-2E9C-101B-9397-08002B2CF9AE}" pid="13" name="MediaServiceImageTags">
    <vt:lpwstr/>
  </property>
  <property fmtid="{D5CDD505-2E9C-101B-9397-08002B2CF9AE}" pid="14" name="ADBSector">
    <vt:lpwstr/>
  </property>
  <property fmtid="{D5CDD505-2E9C-101B-9397-08002B2CF9AE}" pid="15" name="ADBDocumentSecurity">
    <vt:lpwstr/>
  </property>
  <property fmtid="{D5CDD505-2E9C-101B-9397-08002B2CF9AE}" pid="16" name="ADBDocumentLanguage">
    <vt:lpwstr>1;#English|16ac8743-31bb-43f8-9a73-533a041667d6</vt:lpwstr>
  </property>
  <property fmtid="{D5CDD505-2E9C-101B-9397-08002B2CF9AE}" pid="17" name="ADBDocumentType">
    <vt:lpwstr/>
  </property>
  <property fmtid="{D5CDD505-2E9C-101B-9397-08002B2CF9AE}" pid="18" name="ADBDepartmentOwner">
    <vt:lpwstr>4;#ERCD|ab3ec0c9-2ce1-477e-8dd0-15d1f7f6b467</vt:lpwstr>
  </property>
  <property fmtid="{D5CDD505-2E9C-101B-9397-08002B2CF9AE}" pid="19" name="ADBCountry">
    <vt:lpwstr/>
  </property>
  <property fmtid="{D5CDD505-2E9C-101B-9397-08002B2CF9AE}" pid="20" name="ADBContentGroup">
    <vt:lpwstr>3;#ERCD|ab3ec0c9-2ce1-477e-8dd0-15d1f7f6b467</vt:lpwstr>
  </property>
  <property fmtid="{D5CDD505-2E9C-101B-9397-08002B2CF9AE}" pid="21" name="ADBDivision">
    <vt:lpwstr>7;#ERMR|1b0f6326-b8c9-47db-9084-1685569433b2</vt:lpwstr>
  </property>
</Properties>
</file>